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8290B5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8290B5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Lbls>
            <c:dLbl>
              <c:idx val="0"/>
              <c:numFmt formatCode="0.000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A1A2E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00" sourceLinked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1A1A2E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0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1A1A2E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"/>
                <c:pt idx="0">
                  <c:v>Logistic Regression</c:v>
                </c:pt>
                <c:pt idx="1">
                  <c:v>XGBoost (primary)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0.7491</c:v>
                </c:pt>
                <c:pt idx="1">
                  <c:v>0.7576</c:v>
                </c:pt>
              </c:numCache>
            </c:numRef>
          </c:val>
        </c:ser>
        <c:gapWidth val="60"/>
        <c:overlap val="0"/>
        <c:axId val="7388555"/>
        <c:axId val="89365615"/>
      </c:barChart>
      <c:catAx>
        <c:axId val="738855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1A1A2E"/>
                </a:solidFill>
                <a:uFillTx/>
                <a:latin typeface="Arial"/>
              </a:defRPr>
            </a:pPr>
          </a:p>
        </c:txPr>
        <c:crossAx val="89365615"/>
        <c:crosses val="autoZero"/>
        <c:auto val="1"/>
        <c:lblAlgn val="ctr"/>
        <c:lblOffset val="100"/>
        <c:noMultiLvlLbl val="0"/>
      </c:catAx>
      <c:valAx>
        <c:axId val="89365615"/>
        <c:scaling>
          <c:orientation val="minMax"/>
          <c:max val="0.8"/>
          <c:min val="0.7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800" b="0" u="none" strike="noStrike">
                <a:solidFill>
                  <a:srgbClr val="6B7280"/>
                </a:solidFill>
                <a:uFillTx/>
                <a:latin typeface="Arial"/>
              </a:defRPr>
            </a:pPr>
          </a:p>
        </c:txPr>
        <c:crossAx val="738855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DE2F24-4F83-496C-8AFE-DA42DF81A13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F40891-63B6-4393-8F8E-81CEFA4AC3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EC078-823E-4B81-9813-58C4ACA1A3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88098-0937-4339-BE3D-39E90E836B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1EFE7-2D2F-4B41-9696-04A4A95073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A6690E-9747-40C7-958E-7EC68D049B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946DD4-E2C6-4828-8C02-2B0527F922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692640" y="-1645920"/>
            <a:ext cx="4754520" cy="47545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881360" y="4937760"/>
            <a:ext cx="2742840" cy="2742840"/>
          </a:xfrm>
          <a:prstGeom prst="ellipse">
            <a:avLst/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AEGIS RISK</a:t>
            </a:r>
            <a:endParaRPr lang="en-IN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0789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 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4814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20574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SYSTEM OBJECTIVES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48640" y="2395800"/>
            <a:ext cx="310680" cy="3106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23958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051560" y="235008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Predict 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Calibrated XGBoost gradient-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boosting classifier scores individual borrower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default probability (scale_pos_weight = 7.6).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48640" y="3145680"/>
            <a:ext cx="310680" cy="3106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48640" y="3145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51560" y="309996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Explain 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SHAP feature attribution translates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every score into underwriter-readable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reasons, satisfying ECOA, FCRA and CFPB fair-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lending rules.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548640" y="3895200"/>
            <a:ext cx="310680" cy="3106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48640" y="3895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051560" y="384948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Govern 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Demographic &amp; macroeconomic drift simulation benchmarks model stability against Federal Reserve SR 11-7 guidance.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48640" y="4645080"/>
            <a:ext cx="310680" cy="3106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548640" y="46450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1051560" y="459936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 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Credit officers get active tools — What-If loan restructuring, automated Adverse Action Notices, and live applicant scoring.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548640" y="5394960"/>
            <a:ext cx="310680" cy="31068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548640" y="5394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1051560" y="5349240"/>
            <a:ext cx="6034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Orchestrate  </a:t>
            </a:r>
            <a:r>
              <a:rPr lang="en-US" sz="11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AWS Step Functions drive straight-through processing; Bedrock (Claude 3.5 Haiku) drafts memos; WhatsApp notifies borrowers.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7452360" y="205740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DATASET SNAPSHOT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7452360" y="2395800"/>
            <a:ext cx="4205880" cy="767880"/>
          </a:xfrm>
          <a:prstGeom prst="roundRect">
            <a:avLst>
              <a:gd name="adj" fmla="val 9524"/>
            </a:avLst>
          </a:prstGeom>
          <a:solidFill>
            <a:srgbClr val="141B47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3"/>
          <p:cNvSpPr/>
          <p:nvPr/>
        </p:nvSpPr>
        <p:spPr>
          <a:xfrm>
            <a:off x="7680960" y="246888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255,347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7680960" y="28713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Loan records — 32 columns, 0 nulls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452360" y="3291840"/>
            <a:ext cx="4205880" cy="767880"/>
          </a:xfrm>
          <a:prstGeom prst="roundRect">
            <a:avLst>
              <a:gd name="adj" fmla="val 9524"/>
            </a:avLst>
          </a:prstGeom>
          <a:solidFill>
            <a:srgbClr val="141B47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680960" y="336492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11.6%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680960" y="37674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Default rate (7.6 : 1 class imbalance)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7452360" y="4187880"/>
            <a:ext cx="4205880" cy="767880"/>
          </a:xfrm>
          <a:prstGeom prst="roundRect">
            <a:avLst>
              <a:gd name="adj" fmla="val 9524"/>
            </a:avLst>
          </a:prstGeom>
          <a:solidFill>
            <a:srgbClr val="141B47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7680960" y="42609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31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7680960" y="46634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Model input features (+ 1 target)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7452360" y="5083920"/>
            <a:ext cx="4205880" cy="767880"/>
          </a:xfrm>
          <a:prstGeom prst="roundRect">
            <a:avLst>
              <a:gd name="adj" fmla="val 9524"/>
            </a:avLst>
          </a:prstGeom>
          <a:solidFill>
            <a:srgbClr val="141B47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7680960" y="51573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400 / 1,200 / 93</a:t>
            </a:r>
            <a:endParaRPr lang="en-IN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7680960" y="55594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Seeded borrowers / SHAP reasons / alerts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457200" y="6565320"/>
            <a:ext cx="8686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Aegis Risk — AI-Powered Loan Default Prediction System 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11457360" y="65653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48640" y="41148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TECHNOLOGY STACK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548640" y="6768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One integrated stack spanning ML, application, and AWS cloud layers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"/>
          <p:cNvSpPr/>
          <p:nvPr/>
        </p:nvSpPr>
        <p:spPr>
          <a:xfrm>
            <a:off x="548640" y="16275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749880" y="18288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74988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1188720" y="18104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Frontend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804600" y="22860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Next.js 16 (App Router)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TypeScript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Tailwind CSS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Recharts visualizations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4331160" y="16275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8"/>
          <p:cNvSpPr/>
          <p:nvPr/>
        </p:nvSpPr>
        <p:spPr>
          <a:xfrm>
            <a:off x="4532400" y="18288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453240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4971240" y="18104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Backend &amp; Orchestration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4587120" y="22860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Next.js API routes (REST)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AWS Lambda scoring engine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API Gateway v2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AWS Step Functions (STP decisioning)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2"/>
          <p:cNvSpPr/>
          <p:nvPr/>
        </p:nvSpPr>
        <p:spPr>
          <a:xfrm>
            <a:off x="8113680" y="16275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8314920" y="18288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8314920" y="18288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8753760" y="18104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Database &amp; Identity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8369640" y="22860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RDS PostgreSQL 16 (primary)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Supabase PostgreSQL (dev fallback)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AWS Cognito user pool (SSO)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548640" y="40323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749880" y="42336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749880" y="4233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1188720" y="42152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AWS Cloud Services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804600" y="46908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S3 — model registry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CloudWatch — audit logs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SNS — critical alerts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Amazon Bedrock — Claude 3.5 Haiku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4331160" y="40323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3"/>
          <p:cNvSpPr/>
          <p:nvPr/>
        </p:nvSpPr>
        <p:spPr>
          <a:xfrm>
            <a:off x="4532400" y="42336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4532400" y="4233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4971240" y="42152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Borrower Integrations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4587120" y="46908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Meta WhatsApp Business Cloud API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Simulation-mode fallback for demos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7"/>
          <p:cNvSpPr/>
          <p:nvPr/>
        </p:nvSpPr>
        <p:spPr>
          <a:xfrm>
            <a:off x="8113680" y="4032360"/>
            <a:ext cx="3526200" cy="2148480"/>
          </a:xfrm>
          <a:prstGeom prst="roundRect">
            <a:avLst>
              <a:gd name="adj" fmla="val 2979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8"/>
          <p:cNvSpPr/>
          <p:nvPr/>
        </p:nvSpPr>
        <p:spPr>
          <a:xfrm>
            <a:off x="8314920" y="4233600"/>
            <a:ext cx="328680" cy="3286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9"/>
          <p:cNvSpPr/>
          <p:nvPr/>
        </p:nvSpPr>
        <p:spPr>
          <a:xfrm>
            <a:off x="8314920" y="42336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0"/>
          <p:cNvSpPr/>
          <p:nvPr/>
        </p:nvSpPr>
        <p:spPr>
          <a:xfrm>
            <a:off x="8753760" y="4215240"/>
            <a:ext cx="270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ML / Data Science (Python 3.10+)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1"/>
          <p:cNvSpPr/>
          <p:nvPr/>
        </p:nvSpPr>
        <p:spPr>
          <a:xfrm>
            <a:off x="8369640" y="4690800"/>
            <a:ext cx="3014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XGBoost &amp; Scikit-learn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SHAP (TreeExplainer)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Pandas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12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Faker (synthetic PII)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2"/>
          <p:cNvSpPr/>
          <p:nvPr/>
        </p:nvSpPr>
        <p:spPr>
          <a:xfrm>
            <a:off x="457200" y="6565320"/>
            <a:ext cx="8686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Aegis Risk — AI-Powered Loan Default Prediction System 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3"/>
          <p:cNvSpPr/>
          <p:nvPr/>
        </p:nvSpPr>
        <p:spPr>
          <a:xfrm>
            <a:off x="11457360" y="65653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48640" y="41148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METHODOLOGY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48640" y="6768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Data-driven PD modeling, rigorously evaluated and governed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548640" y="1572840"/>
            <a:ext cx="2601000" cy="2742840"/>
          </a:xfrm>
          <a:prstGeom prst="roundRect">
            <a:avLst>
              <a:gd name="adj" fmla="val 2460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548640" y="1572840"/>
            <a:ext cx="2601000" cy="54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731520" y="1737360"/>
            <a:ext cx="223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1. Data Preparation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749880" y="2414160"/>
            <a:ext cx="22172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255,347 loans · 31 features · 0 nulls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Stratified 80/20 split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204,277 train / 51,070 test rows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Target: 11.6% default (imbalanced)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3378600" y="1572840"/>
            <a:ext cx="2601000" cy="2742840"/>
          </a:xfrm>
          <a:prstGeom prst="roundRect">
            <a:avLst>
              <a:gd name="adj" fmla="val 2460"/>
            </a:avLst>
          </a:prstGeom>
          <a:solidFill>
            <a:srgbClr val="F7FA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3378600" y="1572840"/>
            <a:ext cx="2601000" cy="54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3561480" y="1737360"/>
            <a:ext cx="223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2. Model Training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3579840" y="2414160"/>
            <a:ext cx="22172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Baseline: Logistic Regression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Primary: XGBoost (n_estimators=100,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max_depth=4, lr=0.1,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scale_pos_weight=7.61 vs. SMOTE)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6208920" y="1572840"/>
            <a:ext cx="2601000" cy="2742840"/>
          </a:xfrm>
          <a:prstGeom prst="roundRect">
            <a:avLst>
              <a:gd name="adj" fmla="val 2460"/>
            </a:avLst>
          </a:prstGeom>
          <a:solidFill>
            <a:srgbClr val="EEF3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1"/>
          <p:cNvSpPr/>
          <p:nvPr/>
        </p:nvSpPr>
        <p:spPr>
          <a:xfrm>
            <a:off x="6208920" y="1572840"/>
            <a:ext cx="2601000" cy="54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6391800" y="1737360"/>
            <a:ext cx="223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3. Evaluation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6409800" y="2414160"/>
            <a:ext cx="22172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XGBoost AUC-ROC: 0.7576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vs. Logistic baseline: 0.7491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Recall on defaults: 68.6%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(4,069 / 5,931 true positives)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9038880" y="1572840"/>
            <a:ext cx="2601000" cy="2742840"/>
          </a:xfrm>
          <a:prstGeom prst="roundRect">
            <a:avLst>
              <a:gd name="adj" fmla="val 2460"/>
            </a:avLst>
          </a:prstGeom>
          <a:solidFill>
            <a:srgbClr val="F7FA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5"/>
          <p:cNvSpPr/>
          <p:nvPr/>
        </p:nvSpPr>
        <p:spPr>
          <a:xfrm>
            <a:off x="9038880" y="1572840"/>
            <a:ext cx="2601000" cy="54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9221760" y="1737360"/>
            <a:ext cx="223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4. Explainability &amp; Governance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9240120" y="2414160"/>
            <a:ext cx="22172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SHAP TreeExplainer — top-3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local factors per borrower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Demographic drift simulation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ct val="115000"/>
              </a:lnSpc>
              <a:buClr>
                <a:srgbClr val="1A1A2E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for Federal Reserve SR 11-7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8"/>
          <p:cNvSpPr/>
          <p:nvPr/>
        </p:nvSpPr>
        <p:spPr>
          <a:xfrm>
            <a:off x="548640" y="45262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50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MODEL PERFORMANCE &amp; DRIFT AUDIT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9" name="Chart 0"/>
          <p:cNvGraphicFramePr/>
          <p:nvPr/>
        </p:nvGraphicFramePr>
        <p:xfrm>
          <a:off x="548640" y="4827960"/>
          <a:ext cx="5120280" cy="1691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0" name="Shape 19"/>
          <p:cNvSpPr/>
          <p:nvPr/>
        </p:nvSpPr>
        <p:spPr>
          <a:xfrm>
            <a:off x="6035040" y="4827960"/>
            <a:ext cx="2605680" cy="776880"/>
          </a:xfrm>
          <a:prstGeom prst="roundRect">
            <a:avLst>
              <a:gd name="adj" fmla="val 7059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6172200" y="487368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68.6%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6172200" y="525780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Recall on true defaults — capital protection prioritized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2"/>
          <p:cNvSpPr/>
          <p:nvPr/>
        </p:nvSpPr>
        <p:spPr>
          <a:xfrm>
            <a:off x="6035040" y="5742360"/>
            <a:ext cx="2605680" cy="776880"/>
          </a:xfrm>
          <a:prstGeom prst="roundRect">
            <a:avLst>
              <a:gd name="adj" fmla="val 7059"/>
            </a:avLst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3"/>
          <p:cNvSpPr/>
          <p:nvPr/>
        </p:nvSpPr>
        <p:spPr>
          <a:xfrm>
            <a:off x="6172200" y="578808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Δ AUC = 0.0349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6172200" y="61722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 &lt;40 (0.7448) vs Age ≥40 (0.7099) — SR 11-7 drift check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8915400" y="4827960"/>
            <a:ext cx="2724480" cy="1691280"/>
          </a:xfrm>
          <a:prstGeom prst="roundRect">
            <a:avLst>
              <a:gd name="adj" fmla="val 3243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9079920" y="4956120"/>
            <a:ext cx="2395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Why not SMOTE?  </a:t>
            </a:r>
            <a:r>
              <a:rPr lang="en-US" sz="95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Loss-weight scaling (scale_pos_weight) penalizes false negatives directly, without synthesizing unrealistic applicant profiles or distorting empirical feature distributions.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457200" y="6565320"/>
            <a:ext cx="8686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Aegis Risk — AI-Powered Loan Default Prediction System 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8"/>
          <p:cNvSpPr/>
          <p:nvPr/>
        </p:nvSpPr>
        <p:spPr>
          <a:xfrm>
            <a:off x="11457360" y="65653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1148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ARCHITECTURE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6768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 decoupled scoring seam backed by managed AWS data services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48640" y="1600200"/>
            <a:ext cx="5394600" cy="324576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777240" y="17830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Scoring Seam — lib/scoring/getScore.ts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777240" y="2258640"/>
            <a:ext cx="292320" cy="292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777240" y="22586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234440" y="220356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Live Inference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AWS Lambda + API Gateway score live feature vectors with automated TreeSHAP attribution in real time.</a:t>
            </a:r>
            <a:endParaRPr lang="en-IN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777240" y="3127320"/>
            <a:ext cx="292320" cy="292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777240" y="3127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1234440" y="307224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Graceful Fallback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If the cloud endpoint is unreachable, getScore() falls back to a pre-computed database cache — zero code change for consumers.</a:t>
            </a:r>
            <a:endParaRPr lang="en-IN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777240" y="3996000"/>
            <a:ext cx="292320" cy="2923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777240" y="3996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234440" y="3940920"/>
            <a:ext cx="4434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Regulatory Telemetry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8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Every assessment is logged to CloudWatch (/aegis-risk/audit-trail); CRITICAL scores push alerts via Amazon SNS.</a:t>
            </a:r>
            <a:endParaRPr lang="en-IN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6172200" y="1600200"/>
            <a:ext cx="5467680" cy="3245760"/>
          </a:xfrm>
          <a:prstGeom prst="roundRect">
            <a:avLst>
              <a:gd name="adj" fmla="val 2254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6400800" y="178308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Relational Data Model (Amazon RDS PostgreSQL 16)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6400800" y="2258640"/>
            <a:ext cx="501048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537960" y="2313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borrowers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8321040" y="231336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8A5F"/>
                </a:solidFill>
                <a:effectLst/>
                <a:uFillTx/>
                <a:latin typeface="Calibri"/>
                <a:ea typeface="Calibri"/>
              </a:rPr>
              <a:t>400 rows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9418320" y="23133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Loan account &amp; demographic registry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6400800" y="2917080"/>
            <a:ext cx="501048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6537960" y="29718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risk_scores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8321040" y="297180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8A5F"/>
                </a:solidFill>
                <a:effectLst/>
                <a:uFillTx/>
                <a:latin typeface="Calibri"/>
                <a:ea typeface="Calibri"/>
              </a:rPr>
              <a:t>400 rows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9418320" y="297180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PD predictions per borrower + model version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6400800" y="3575160"/>
            <a:ext cx="501048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6537960" y="36302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risk_reasons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8321040" y="363024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8A5F"/>
                </a:solidFill>
                <a:effectLst/>
                <a:uFillTx/>
                <a:latin typeface="Calibri"/>
                <a:ea typeface="Calibri"/>
              </a:rPr>
              <a:t>1,200 rows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9418320" y="363024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Ranked SHAP feature attributions (top-3 each)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7"/>
          <p:cNvSpPr/>
          <p:nvPr/>
        </p:nvSpPr>
        <p:spPr>
          <a:xfrm>
            <a:off x="6400800" y="4233600"/>
            <a:ext cx="5010480" cy="56664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6537960" y="42886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urier New"/>
                <a:ea typeface="Courier New"/>
              </a:rPr>
              <a:t>alerts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9"/>
          <p:cNvSpPr/>
          <p:nvPr/>
        </p:nvSpPr>
        <p:spPr>
          <a:xfrm>
            <a:off x="8321040" y="4288680"/>
            <a:ext cx="1051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E8A5F"/>
                </a:solidFill>
                <a:effectLst/>
                <a:uFillTx/>
                <a:latin typeface="Calibri"/>
                <a:ea typeface="Calibri"/>
              </a:rPr>
              <a:t>93 rows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0"/>
          <p:cNvSpPr/>
          <p:nvPr/>
        </p:nvSpPr>
        <p:spPr>
          <a:xfrm>
            <a:off x="9418320" y="428868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Auto-generated on high/critical score insert via SQL trigger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1"/>
          <p:cNvSpPr/>
          <p:nvPr/>
        </p:nvSpPr>
        <p:spPr>
          <a:xfrm>
            <a:off x="548640" y="5074920"/>
            <a:ext cx="5431320" cy="1325520"/>
          </a:xfrm>
          <a:prstGeom prst="roundRect">
            <a:avLst>
              <a:gd name="adj" fmla="val 4828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777240" y="5212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3"/>
          <p:cNvSpPr/>
          <p:nvPr/>
        </p:nvSpPr>
        <p:spPr>
          <a:xfrm>
            <a:off x="777240" y="5513760"/>
            <a:ext cx="49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 training data, predictive relationships, calibrated PD probabilities, feature importances, and SHAP attribution vectors.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4"/>
          <p:cNvSpPr/>
          <p:nvPr/>
        </p:nvSpPr>
        <p:spPr>
          <a:xfrm>
            <a:off x="6208920" y="5074920"/>
            <a:ext cx="5431320" cy="132552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5"/>
          <p:cNvSpPr/>
          <p:nvPr/>
        </p:nvSpPr>
        <p:spPr>
          <a:xfrm>
            <a:off x="6437520" y="5212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5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SIMULATED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6437520" y="5513760"/>
            <a:ext cx="49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Borrower PII — full names, synthetic emails, geography — dynamically generated with Python Faker to protect real applicant privacy.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7"/>
          <p:cNvSpPr/>
          <p:nvPr/>
        </p:nvSpPr>
        <p:spPr>
          <a:xfrm>
            <a:off x="457200" y="6565320"/>
            <a:ext cx="8686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Aegis Risk — AI-Powered Loan Default Prediction System 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8"/>
          <p:cNvSpPr/>
          <p:nvPr/>
        </p:nvSpPr>
        <p:spPr>
          <a:xfrm>
            <a:off x="11457360" y="65653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48640" y="41148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PLATFORM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48640" y="6768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An interactive underwriting cockpit backed by a governed API layer</a:t>
            </a:r>
            <a:endParaRPr lang="en-IN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548640" y="160020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694800" y="174636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694800" y="1746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078920" y="169164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Portfolio &amp; Search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1078920" y="200268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Paginated borrower table, bucket filters, live applicant scorer modal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4114800" y="160020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4260960" y="174636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4260960" y="1746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4645080" y="169164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SHAP Explainability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4645080" y="200268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Horizontal attribution chart explains every score, directionally colored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548640" y="279792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694800" y="294444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694800" y="2944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1078920" y="288936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What-If Simulator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1078920" y="320040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Sliders for loan amount, tenure, income recalculate PD in real time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4114800" y="279792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8"/>
          <p:cNvSpPr/>
          <p:nvPr/>
        </p:nvSpPr>
        <p:spPr>
          <a:xfrm>
            <a:off x="4260960" y="294444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4260960" y="29444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4645080" y="288936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Adverse Action Notice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4645080" y="320040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Auto-drafted CFPB/ECOA/FCRA-compliant decline letters from SHAP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2"/>
          <p:cNvSpPr/>
          <p:nvPr/>
        </p:nvSpPr>
        <p:spPr>
          <a:xfrm>
            <a:off x="548640" y="399600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694800" y="414216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694800" y="4142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1078920" y="408744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Bedrock GenAI Memo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1078920" y="439812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Claude 3.5 Haiku drafts a 4-part institutional credit memorandum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7"/>
          <p:cNvSpPr/>
          <p:nvPr/>
        </p:nvSpPr>
        <p:spPr>
          <a:xfrm>
            <a:off x="4114800" y="399600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8"/>
          <p:cNvSpPr/>
          <p:nvPr/>
        </p:nvSpPr>
        <p:spPr>
          <a:xfrm>
            <a:off x="4260960" y="414216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4260960" y="41421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0"/>
          <p:cNvSpPr/>
          <p:nvPr/>
        </p:nvSpPr>
        <p:spPr>
          <a:xfrm>
            <a:off x="4645080" y="408744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Alerts Triage Desk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1"/>
          <p:cNvSpPr/>
          <p:nvPr/>
        </p:nvSpPr>
        <p:spPr>
          <a:xfrm>
            <a:off x="4645080" y="439812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Severity-tiered queue with Open → Acknowledged → Resolved workflow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2"/>
          <p:cNvSpPr/>
          <p:nvPr/>
        </p:nvSpPr>
        <p:spPr>
          <a:xfrm>
            <a:off x="548640" y="519372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3"/>
          <p:cNvSpPr/>
          <p:nvPr/>
        </p:nvSpPr>
        <p:spPr>
          <a:xfrm>
            <a:off x="694800" y="534024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4"/>
          <p:cNvSpPr/>
          <p:nvPr/>
        </p:nvSpPr>
        <p:spPr>
          <a:xfrm>
            <a:off x="694800" y="534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5"/>
          <p:cNvSpPr/>
          <p:nvPr/>
        </p:nvSpPr>
        <p:spPr>
          <a:xfrm>
            <a:off x="1078920" y="528516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Portfolio Analytics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6"/>
          <p:cNvSpPr/>
          <p:nvPr/>
        </p:nvSpPr>
        <p:spPr>
          <a:xfrm>
            <a:off x="1078920" y="559620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Expected Loss (EL = PD × EAD × LGD) and drift governance dashboard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7"/>
          <p:cNvSpPr/>
          <p:nvPr/>
        </p:nvSpPr>
        <p:spPr>
          <a:xfrm>
            <a:off x="4114800" y="5193720"/>
            <a:ext cx="3382920" cy="1078560"/>
          </a:xfrm>
          <a:prstGeom prst="roundRect">
            <a:avLst>
              <a:gd name="adj" fmla="val 5085"/>
            </a:avLst>
          </a:prstGeom>
          <a:solidFill>
            <a:srgbClr val="EEF3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8"/>
          <p:cNvSpPr/>
          <p:nvPr/>
        </p:nvSpPr>
        <p:spPr>
          <a:xfrm>
            <a:off x="4260960" y="5340240"/>
            <a:ext cx="273960" cy="2739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9"/>
          <p:cNvSpPr/>
          <p:nvPr/>
        </p:nvSpPr>
        <p:spPr>
          <a:xfrm>
            <a:off x="4260960" y="534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0"/>
          <p:cNvSpPr/>
          <p:nvPr/>
        </p:nvSpPr>
        <p:spPr>
          <a:xfrm>
            <a:off x="4645080" y="5285160"/>
            <a:ext cx="2697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Macro Stress Testing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1"/>
          <p:cNvSpPr/>
          <p:nvPr/>
        </p:nvSpPr>
        <p:spPr>
          <a:xfrm>
            <a:off x="4645080" y="5596200"/>
            <a:ext cx="2697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A1A2E"/>
                </a:solidFill>
                <a:effectLst/>
                <a:uFillTx/>
                <a:latin typeface="Calibri"/>
                <a:ea typeface="Calibri"/>
              </a:rPr>
              <a:t>+200 bps Fed hike / stagflation toggle migrates risk buckets live</a:t>
            </a:r>
            <a:endParaRPr lang="en-IN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2"/>
          <p:cNvSpPr/>
          <p:nvPr/>
        </p:nvSpPr>
        <p:spPr>
          <a:xfrm>
            <a:off x="7818120" y="1600200"/>
            <a:ext cx="3821760" cy="4672080"/>
          </a:xfrm>
          <a:prstGeom prst="roundRect">
            <a:avLst>
              <a:gd name="adj" fmla="val 1675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43"/>
          <p:cNvSpPr/>
          <p:nvPr/>
        </p:nvSpPr>
        <p:spPr>
          <a:xfrm>
            <a:off x="8046720" y="1746360"/>
            <a:ext cx="336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5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KEY REST ENDPOINTS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4"/>
          <p:cNvSpPr/>
          <p:nvPr/>
        </p:nvSpPr>
        <p:spPr>
          <a:xfrm>
            <a:off x="8046720" y="210312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5"/>
          <p:cNvSpPr/>
          <p:nvPr/>
        </p:nvSpPr>
        <p:spPr>
          <a:xfrm>
            <a:off x="8823960" y="210312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/api/borrowers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6"/>
          <p:cNvSpPr/>
          <p:nvPr/>
        </p:nvSpPr>
        <p:spPr>
          <a:xfrm>
            <a:off x="8046720" y="242316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7"/>
          <p:cNvSpPr/>
          <p:nvPr/>
        </p:nvSpPr>
        <p:spPr>
          <a:xfrm>
            <a:off x="8823960" y="242316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/api/borrowers/:id/score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8"/>
          <p:cNvSpPr/>
          <p:nvPr/>
        </p:nvSpPr>
        <p:spPr>
          <a:xfrm>
            <a:off x="8046720" y="274320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4A261"/>
                </a:solidFill>
                <a:effectLst/>
                <a:uFillTx/>
                <a:latin typeface="Courier New"/>
                <a:ea typeface="Courier New"/>
              </a:rPr>
              <a:t>GET/PATCH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9"/>
          <p:cNvSpPr/>
          <p:nvPr/>
        </p:nvSpPr>
        <p:spPr>
          <a:xfrm>
            <a:off x="8823960" y="274320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/api/alerts, /api/alerts/:id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0"/>
          <p:cNvSpPr/>
          <p:nvPr/>
        </p:nvSpPr>
        <p:spPr>
          <a:xfrm>
            <a:off x="8046720" y="306324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1"/>
          <p:cNvSpPr/>
          <p:nvPr/>
        </p:nvSpPr>
        <p:spPr>
          <a:xfrm>
            <a:off x="8823960" y="306324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/api/analytics/portfolio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52"/>
          <p:cNvSpPr/>
          <p:nvPr/>
        </p:nvSpPr>
        <p:spPr>
          <a:xfrm>
            <a:off x="8046720" y="338328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3"/>
          <p:cNvSpPr/>
          <p:nvPr/>
        </p:nvSpPr>
        <p:spPr>
          <a:xfrm>
            <a:off x="8823960" y="338328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/api/analytics/drift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4"/>
          <p:cNvSpPr/>
          <p:nvPr/>
        </p:nvSpPr>
        <p:spPr>
          <a:xfrm>
            <a:off x="8046720" y="370332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ourier New"/>
                <a:ea typeface="Courier New"/>
              </a:rPr>
              <a:t>POST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5"/>
          <p:cNvSpPr/>
          <p:nvPr/>
        </p:nvSpPr>
        <p:spPr>
          <a:xfrm>
            <a:off x="8823960" y="370332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/api/borrowers/:id/memo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6"/>
          <p:cNvSpPr/>
          <p:nvPr/>
        </p:nvSpPr>
        <p:spPr>
          <a:xfrm>
            <a:off x="8046720" y="402336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ourier New"/>
                <a:ea typeface="Courier New"/>
              </a:rPr>
              <a:t>POST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7"/>
          <p:cNvSpPr/>
          <p:nvPr/>
        </p:nvSpPr>
        <p:spPr>
          <a:xfrm>
            <a:off x="8823960" y="4023360"/>
            <a:ext cx="2587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/api/borrowers/:id/whatsapp</a:t>
            </a:r>
            <a:endParaRPr lang="en-IN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8"/>
          <p:cNvSpPr/>
          <p:nvPr/>
        </p:nvSpPr>
        <p:spPr>
          <a:xfrm>
            <a:off x="8046720" y="4389120"/>
            <a:ext cx="3364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Session-authenticated; standardized error envelope { error: { code, message } }.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59"/>
          <p:cNvSpPr/>
          <p:nvPr/>
        </p:nvSpPr>
        <p:spPr>
          <a:xfrm>
            <a:off x="457200" y="6565320"/>
            <a:ext cx="8686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Aegis Risk — AI-Powered Loan Default Prediction System 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0"/>
          <p:cNvSpPr/>
          <p:nvPr/>
        </p:nvSpPr>
        <p:spPr>
          <a:xfrm>
            <a:off x="11457360" y="65653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-1463040" y="4206240"/>
            <a:ext cx="4114440" cy="4114440"/>
          </a:xfrm>
          <a:prstGeom prst="ellipse">
            <a:avLst/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548640" y="411480"/>
            <a:ext cx="9143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COMPLIANCE, IMPACT &amp; TEAM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548640" y="67680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Regulator-ready, quantified, and built by a three-person engineering team</a:t>
            </a:r>
            <a:endParaRPr lang="en-IN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548640" y="1463040"/>
            <a:ext cx="3611520" cy="4160160"/>
          </a:xfrm>
          <a:prstGeom prst="roundRect">
            <a:avLst>
              <a:gd name="adj" fmla="val 1772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749880" y="1645920"/>
            <a:ext cx="320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REGULATORY ALIGNMENT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749880" y="2030040"/>
            <a:ext cx="3209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SR 11-7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Full model inventory, linear baseline comparison, and empirical drift audits for model risk management.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749880" y="3200400"/>
            <a:ext cx="3209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ECOA (Reg B)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Local SHAP values bind directly to compliant, specific adverse action notices — no black-box declines.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749880" y="4370760"/>
            <a:ext cx="3209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FCRA (Reg V)</a:t>
            </a:r>
            <a:endParaRPr lang="en-IN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Enforces accuracy, transparency, and the consumer's right to know adverse credit factors.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4361760" y="1463040"/>
            <a:ext cx="3611520" cy="4160160"/>
          </a:xfrm>
          <a:prstGeom prst="roundRect">
            <a:avLst>
              <a:gd name="adj" fmla="val 1772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4563000" y="1645920"/>
            <a:ext cx="320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BUSINESS IMPACT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4563000" y="2030040"/>
            <a:ext cx="320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$38.45M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4563000" y="2395800"/>
            <a:ext cx="320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Total monitored loan volume across 400 borrowers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2"/>
          <p:cNvSpPr/>
          <p:nvPr/>
        </p:nvSpPr>
        <p:spPr>
          <a:xfrm>
            <a:off x="4563000" y="2926080"/>
            <a:ext cx="320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$29.81M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4563000" y="3291840"/>
            <a:ext cx="320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Total outstanding balance under active surveillance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4563000" y="3822120"/>
            <a:ext cx="320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18 / 42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5"/>
          <p:cNvSpPr/>
          <p:nvPr/>
        </p:nvSpPr>
        <p:spPr>
          <a:xfrm>
            <a:off x="4563000" y="4187880"/>
            <a:ext cx="320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Critical alerts / high-risk borrowers flagged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6"/>
          <p:cNvSpPr/>
          <p:nvPr/>
        </p:nvSpPr>
        <p:spPr>
          <a:xfrm>
            <a:off x="4563000" y="4718160"/>
            <a:ext cx="320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20–30%</a:t>
            </a:r>
            <a:endParaRPr lang="en-IN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4563000" y="5083920"/>
            <a:ext cx="320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Target reduction in non-performing accounts within 12 months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8"/>
          <p:cNvSpPr/>
          <p:nvPr/>
        </p:nvSpPr>
        <p:spPr>
          <a:xfrm>
            <a:off x="8174880" y="1463040"/>
            <a:ext cx="3611520" cy="4160160"/>
          </a:xfrm>
          <a:prstGeom prst="roundRect">
            <a:avLst>
              <a:gd name="adj" fmla="val 1772"/>
            </a:avLst>
          </a:prstGeom>
          <a:solidFill>
            <a:srgbClr val="141B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9"/>
          <p:cNvSpPr/>
          <p:nvPr/>
        </p:nvSpPr>
        <p:spPr>
          <a:xfrm>
            <a:off x="8375760" y="1645920"/>
            <a:ext cx="3209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1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ENGINEERING TEAM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0"/>
          <p:cNvSpPr/>
          <p:nvPr/>
        </p:nvSpPr>
        <p:spPr>
          <a:xfrm>
            <a:off x="8375760" y="2030040"/>
            <a:ext cx="3209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ML Engineer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Model training, SHAP attribution, drift simulation, S3 model lake</a:t>
            </a:r>
            <a:endParaRPr lang="en-IN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8375760" y="3237120"/>
            <a:ext cx="3209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Backend &amp; Infra Engineer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RDS, Cognito, Step Functions, Lambda seam, Bedrock, WhatsApp, CloudWatch/SNS</a:t>
            </a:r>
            <a:endParaRPr lang="en-IN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8375760" y="4443840"/>
            <a:ext cx="3209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 Engineer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Cockpit shell, SHAP charts, What-If simulator, Adverse Action &amp; memo modals</a:t>
            </a:r>
            <a:endParaRPr lang="en-IN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3"/>
          <p:cNvSpPr/>
          <p:nvPr/>
        </p:nvSpPr>
        <p:spPr>
          <a:xfrm>
            <a:off x="548640" y="63550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Thank you — questions &amp; discussion welcome.</a:t>
            </a:r>
            <a:endParaRPr lang="en-IN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4"/>
          <p:cNvSpPr/>
          <p:nvPr/>
        </p:nvSpPr>
        <p:spPr>
          <a:xfrm>
            <a:off x="11457360" y="638244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290B5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2026-09-06T09:58:51Z</dcterms:created>
  <dc:creator>PptxGenJS</dc:creator>
  <dc:description/>
  <dc:language>en-IN</dc:language>
  <cp:lastModifiedBy/>
  <dcterms:modified xsi:type="dcterms:W3CDTF">2026-09-06T15:32:25Z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